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497" r:id="rId3"/>
    <p:sldId id="499" r:id="rId4"/>
    <p:sldId id="507" r:id="rId5"/>
    <p:sldId id="500" r:id="rId6"/>
    <p:sldId id="501" r:id="rId7"/>
    <p:sldId id="502" r:id="rId8"/>
    <p:sldId id="503" r:id="rId9"/>
    <p:sldId id="512" r:id="rId10"/>
    <p:sldId id="508" r:id="rId11"/>
    <p:sldId id="506" r:id="rId12"/>
    <p:sldId id="511" r:id="rId13"/>
    <p:sldId id="509" r:id="rId14"/>
    <p:sldId id="510" r:id="rId15"/>
    <p:sldId id="269" r:id="rId16"/>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9A32F9-1B90-4CCD-8234-39AAFD3310FD}">
          <p14:sldIdLst>
            <p14:sldId id="256"/>
            <p14:sldId id="497"/>
            <p14:sldId id="499"/>
            <p14:sldId id="507"/>
            <p14:sldId id="500"/>
            <p14:sldId id="501"/>
            <p14:sldId id="502"/>
            <p14:sldId id="503"/>
            <p14:sldId id="512"/>
            <p14:sldId id="508"/>
            <p14:sldId id="506"/>
            <p14:sldId id="511"/>
          </p14:sldIdLst>
        </p14:section>
        <p14:section name="Untitled Section" id="{AABDAD2E-63B4-4429-8AA8-5D11D72F210B}">
          <p14:sldIdLst>
            <p14:sldId id="509"/>
            <p14:sldId id="510"/>
            <p14:sldId id="26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437" autoAdjust="0"/>
    <p:restoredTop sz="74694" autoAdjust="0"/>
  </p:normalViewPr>
  <p:slideViewPr>
    <p:cSldViewPr>
      <p:cViewPr varScale="1">
        <p:scale>
          <a:sx n="30" d="100"/>
          <a:sy n="30" d="100"/>
        </p:scale>
        <p:origin x="1168" y="2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01-05-2025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0CB9-56DE-31B2-1098-9E71ADEDC8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57ED-9196-070B-03D2-6FE6317058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E38988-A9A4-28F1-3031-903B0DC0FA0C}"/>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0DAD130-048E-2ECD-E747-13E1DC11F144}"/>
              </a:ext>
            </a:extLst>
          </p:cNvPr>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1393565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4696401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CB42-67FF-A56C-05D1-F3CA77565C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9108E-4C40-8FA2-5882-5CAF979E37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6B8-D38C-99EF-99AB-B9CFD6B0BBF2}"/>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4960A5D-F436-34AE-AEE7-EA596C7FBA4F}"/>
              </a:ext>
            </a:extLst>
          </p:cNvPr>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937180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80FAA-8FF1-CA16-503E-7EE1828F0E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ADDF11-2325-93C8-615C-4DD2EC242C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37C88F-6B42-67A0-95F1-7C89B0444CF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258F2525-8EA6-D7F2-FEE2-460ED625C131}"/>
              </a:ext>
            </a:extLst>
          </p:cNvPr>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186688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01-05-2025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01-05-2025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01-05-2025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01-05-2025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01-05-2025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01-05-2025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business.adobe.com/products/magento/magento-commerce.html" TargetMode="External"/><Relationship Id="rId5" Type="http://schemas.openxmlformats.org/officeDocument/2006/relationships/hyperlink" Target="https://www.w3schools.com/" TargetMode="External"/><Relationship Id="rId4" Type="http://schemas.openxmlformats.org/officeDocument/2006/relationships/hyperlink" Target="https://developer.mozilla.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Second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graphicFrame>
        <p:nvGraphicFramePr>
          <p:cNvPr id="2" name="Table 2">
            <a:extLst>
              <a:ext uri="{FF2B5EF4-FFF2-40B4-BE49-F238E27FC236}">
                <a16:creationId xmlns:a16="http://schemas.microsoft.com/office/drawing/2014/main" id="{232DFD41-0025-28B4-FE3B-A54FAEE28F42}"/>
              </a:ext>
            </a:extLst>
          </p:cNvPr>
          <p:cNvGraphicFramePr>
            <a:graphicFrameLocks noGrp="1"/>
          </p:cNvGraphicFramePr>
          <p:nvPr>
            <p:extLst>
              <p:ext uri="{D42A27DB-BD31-4B8C-83A1-F6EECF244321}">
                <p14:modId xmlns:p14="http://schemas.microsoft.com/office/powerpoint/2010/main" val="3497407739"/>
              </p:ext>
            </p:extLst>
          </p:nvPr>
        </p:nvGraphicFramePr>
        <p:xfrm>
          <a:off x="1696134" y="3086002"/>
          <a:ext cx="6096000" cy="18542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37270469"/>
                    </a:ext>
                  </a:extLst>
                </a:gridCol>
                <a:gridCol w="3048000">
                  <a:extLst>
                    <a:ext uri="{9D8B030D-6E8A-4147-A177-3AD203B41FA5}">
                      <a16:colId xmlns:a16="http://schemas.microsoft.com/office/drawing/2014/main" val="3305024946"/>
                    </a:ext>
                  </a:extLst>
                </a:gridCol>
              </a:tblGrid>
              <a:tr h="370840">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765898331"/>
                  </a:ext>
                </a:extLst>
              </a:tr>
              <a:tr h="370840">
                <a:tc>
                  <a:txBody>
                    <a:bodyPr/>
                    <a:lstStyle/>
                    <a:p>
                      <a:r>
                        <a:rPr lang="en-US" dirty="0"/>
                        <a:t>2301350025</a:t>
                      </a:r>
                    </a:p>
                  </a:txBody>
                  <a:tcPr/>
                </a:tc>
                <a:tc>
                  <a:txBody>
                    <a:bodyPr/>
                    <a:lstStyle/>
                    <a:p>
                      <a:r>
                        <a:rPr lang="en-US" dirty="0"/>
                        <a:t>DEVANSH GARG</a:t>
                      </a:r>
                    </a:p>
                  </a:txBody>
                  <a:tcPr/>
                </a:tc>
                <a:extLst>
                  <a:ext uri="{0D108BD9-81ED-4DB2-BD59-A6C34878D82A}">
                    <a16:rowId xmlns:a16="http://schemas.microsoft.com/office/drawing/2014/main" val="4176101868"/>
                  </a:ext>
                </a:extLst>
              </a:tr>
              <a:tr h="370840">
                <a:tc>
                  <a:txBody>
                    <a:bodyPr/>
                    <a:lstStyle/>
                    <a:p>
                      <a:r>
                        <a:rPr lang="en-US" dirty="0"/>
                        <a:t>2301350021</a:t>
                      </a:r>
                    </a:p>
                  </a:txBody>
                  <a:tcPr/>
                </a:tc>
                <a:tc>
                  <a:txBody>
                    <a:bodyPr/>
                    <a:lstStyle/>
                    <a:p>
                      <a:r>
                        <a:rPr lang="en-US" dirty="0"/>
                        <a:t>PARV ARORA  </a:t>
                      </a:r>
                    </a:p>
                  </a:txBody>
                  <a:tcPr/>
                </a:tc>
                <a:extLst>
                  <a:ext uri="{0D108BD9-81ED-4DB2-BD59-A6C34878D82A}">
                    <a16:rowId xmlns:a16="http://schemas.microsoft.com/office/drawing/2014/main" val="1958206324"/>
                  </a:ext>
                </a:extLst>
              </a:tr>
              <a:tr h="370840">
                <a:tc>
                  <a:txBody>
                    <a:bodyPr/>
                    <a:lstStyle/>
                    <a:p>
                      <a:r>
                        <a:rPr lang="en-US" dirty="0"/>
                        <a:t>2301350006</a:t>
                      </a:r>
                    </a:p>
                  </a:txBody>
                  <a:tcPr/>
                </a:tc>
                <a:tc>
                  <a:txBody>
                    <a:bodyPr/>
                    <a:lstStyle/>
                    <a:p>
                      <a:r>
                        <a:rPr lang="en-US" dirty="0"/>
                        <a:t>NITIN</a:t>
                      </a:r>
                    </a:p>
                  </a:txBody>
                  <a:tcPr/>
                </a:tc>
                <a:extLst>
                  <a:ext uri="{0D108BD9-81ED-4DB2-BD59-A6C34878D82A}">
                    <a16:rowId xmlns:a16="http://schemas.microsoft.com/office/drawing/2014/main" val="441949598"/>
                  </a:ext>
                </a:extLst>
              </a:tr>
              <a:tr h="370840">
                <a:tc>
                  <a:txBody>
                    <a:bodyPr/>
                    <a:lstStyle/>
                    <a:p>
                      <a:r>
                        <a:rPr lang="en-US" dirty="0"/>
                        <a:t>2301350023</a:t>
                      </a:r>
                    </a:p>
                  </a:txBody>
                  <a:tcPr/>
                </a:tc>
                <a:tc>
                  <a:txBody>
                    <a:bodyPr/>
                    <a:lstStyle/>
                    <a:p>
                      <a:r>
                        <a:rPr lang="en-US" dirty="0"/>
                        <a:t>KESHAV</a:t>
                      </a:r>
                    </a:p>
                  </a:txBody>
                  <a:tcPr/>
                </a:tc>
                <a:extLst>
                  <a:ext uri="{0D108BD9-81ED-4DB2-BD59-A6C34878D82A}">
                    <a16:rowId xmlns:a16="http://schemas.microsoft.com/office/drawing/2014/main" val="3043375068"/>
                  </a:ext>
                </a:extLst>
              </a:tr>
            </a:tbl>
          </a:graphicData>
        </a:graphic>
      </p:graphicFrame>
      <p:sp>
        <p:nvSpPr>
          <p:cNvPr id="5" name="TextBox 4">
            <a:extLst>
              <a:ext uri="{FF2B5EF4-FFF2-40B4-BE49-F238E27FC236}">
                <a16:creationId xmlns:a16="http://schemas.microsoft.com/office/drawing/2014/main" id="{3DF18845-4075-32C5-8F4A-4F40F86E837F}"/>
              </a:ext>
            </a:extLst>
          </p:cNvPr>
          <p:cNvSpPr txBox="1"/>
          <p:nvPr/>
        </p:nvSpPr>
        <p:spPr>
          <a:xfrm>
            <a:off x="2299287" y="1212054"/>
            <a:ext cx="4659282" cy="707886"/>
          </a:xfrm>
          <a:prstGeom prst="rect">
            <a:avLst/>
          </a:prstGeom>
          <a:noFill/>
        </p:spPr>
        <p:txBody>
          <a:bodyPr wrap="square">
            <a:spAutoFit/>
          </a:bodyPr>
          <a:lstStyle/>
          <a:p>
            <a:pPr lvl="0" algn="ctr">
              <a:buSzPct val="25000"/>
            </a:pPr>
            <a:r>
              <a:rPr lang="en-IN" sz="4000" b="1" dirty="0">
                <a:solidFill>
                  <a:srgbClr val="C00000"/>
                </a:solidFill>
                <a:highlight>
                  <a:srgbClr val="FFFF00"/>
                </a:highlight>
                <a:ea typeface="Cambria" panose="02040503050406030204" pitchFamily="18" charset="0"/>
                <a:cs typeface="Times New Roman" panose="02020603050405020304" pitchFamily="18" charset="0"/>
                <a:sym typeface="Arial"/>
              </a:rPr>
              <a:t>B2B Orders</a:t>
            </a:r>
          </a:p>
        </p:txBody>
      </p:sp>
      <p:sp>
        <p:nvSpPr>
          <p:cNvPr id="8" name="TextBox 7">
            <a:extLst>
              <a:ext uri="{FF2B5EF4-FFF2-40B4-BE49-F238E27FC236}">
                <a16:creationId xmlns:a16="http://schemas.microsoft.com/office/drawing/2014/main" id="{40D4C745-33B7-0116-E20F-11A7F0DFD46F}"/>
              </a:ext>
            </a:extLst>
          </p:cNvPr>
          <p:cNvSpPr txBox="1"/>
          <p:nvPr/>
        </p:nvSpPr>
        <p:spPr>
          <a:xfrm>
            <a:off x="236440" y="5733256"/>
            <a:ext cx="8584032" cy="646331"/>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a:rPr>
              <a:t>Industry Mentor:  </a:t>
            </a:r>
            <a:r>
              <a:rPr lang="en-IN" sz="1800" b="1" dirty="0" err="1">
                <a:solidFill>
                  <a:srgbClr val="0070C0"/>
                </a:solidFill>
                <a:ea typeface="Cambria" panose="02040503050406030204" pitchFamily="18" charset="0"/>
                <a:cs typeface="Times New Roman" panose="02020603050405020304" pitchFamily="18" charset="0"/>
                <a:sym typeface="Arial"/>
              </a:rPr>
              <a:t>Ajjaz</a:t>
            </a:r>
            <a:r>
              <a:rPr lang="en-IN" sz="1800" b="1" dirty="0">
                <a:solidFill>
                  <a:srgbClr val="0070C0"/>
                </a:solidFill>
                <a:ea typeface="Cambria" panose="02040503050406030204" pitchFamily="18" charset="0"/>
                <a:cs typeface="Times New Roman" panose="02020603050405020304" pitchFamily="18" charset="0"/>
                <a:sym typeface="Arial"/>
              </a:rPr>
              <a:t> sir</a:t>
            </a:r>
          </a:p>
          <a:p>
            <a:pPr lvl="0">
              <a:buSzPct val="25000"/>
            </a:pPr>
            <a:r>
              <a:rPr lang="en-IN" b="1" dirty="0">
                <a:solidFill>
                  <a:srgbClr val="0070C0"/>
                </a:solidFill>
                <a:ea typeface="Cambria" panose="02040503050406030204" pitchFamily="18" charset="0"/>
                <a:cs typeface="Times New Roman" panose="02020603050405020304" pitchFamily="18" charset="0"/>
                <a:sym typeface="Arial"/>
              </a:rPr>
              <a:t>Faculty Mentor:</a:t>
            </a:r>
            <a:r>
              <a:rPr lang="en-IN" sz="1800" b="1" dirty="0">
                <a:solidFill>
                  <a:srgbClr val="0070C0"/>
                </a:solidFill>
                <a:ea typeface="Cambria" panose="02040503050406030204" pitchFamily="18" charset="0"/>
                <a:cs typeface="Times New Roman" panose="02020603050405020304" pitchFamily="18" charset="0"/>
                <a:sym typeface="Arial"/>
              </a:rPr>
              <a:t>   Suman mam </a:t>
            </a: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8" name="TextBox 7">
            <a:extLst>
              <a:ext uri="{FF2B5EF4-FFF2-40B4-BE49-F238E27FC236}">
                <a16:creationId xmlns:a16="http://schemas.microsoft.com/office/drawing/2014/main" id="{E206213B-E10B-576E-C3F1-458871F9B28A}"/>
              </a:ext>
            </a:extLst>
          </p:cNvPr>
          <p:cNvSpPr txBox="1"/>
          <p:nvPr/>
        </p:nvSpPr>
        <p:spPr>
          <a:xfrm>
            <a:off x="179512" y="2374690"/>
            <a:ext cx="8424936" cy="3046988"/>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ptos Display" panose="020B0004020202020204" pitchFamily="34" charset="0"/>
              </a:rPr>
              <a:t>Topic: A website for an B2B orders for manufacturer using HTML , CSS, and JS.</a:t>
            </a:r>
          </a:p>
          <a:p>
            <a:endParaRPr lang="en-US" sz="2400" dirty="0">
              <a:latin typeface="Aptos Display" panose="020B0004020202020204" pitchFamily="34" charset="0"/>
            </a:endParaRPr>
          </a:p>
          <a:p>
            <a:pPr marL="285750" indent="-285750">
              <a:buFont typeface="Arial" panose="020B0604020202020204" pitchFamily="34" charset="0"/>
              <a:buChar char="•"/>
            </a:pPr>
            <a:r>
              <a:rPr lang="en-US" sz="2400" dirty="0">
                <a:latin typeface="Aptos Display" panose="020B0004020202020204" pitchFamily="34" charset="0"/>
              </a:rPr>
              <a:t>Relevance: Helps manufacturers streamline bulk order processing, inventory management, and customer relationships.</a:t>
            </a:r>
          </a:p>
          <a:p>
            <a:endParaRPr lang="en-US" sz="2400" dirty="0">
              <a:latin typeface="Aptos Display" panose="020B0004020202020204" pitchFamily="34" charset="0"/>
            </a:endParaRPr>
          </a:p>
          <a:p>
            <a:pPr marL="285750" indent="-285750">
              <a:buFont typeface="Arial" panose="020B0604020202020204" pitchFamily="34" charset="0"/>
              <a:buChar char="•"/>
            </a:pPr>
            <a:r>
              <a:rPr lang="en-US" sz="2400" dirty="0">
                <a:latin typeface="Aptos Display" panose="020B0004020202020204" pitchFamily="34" charset="0"/>
              </a:rPr>
              <a:t>Problem statement: Many manufacturers struggle with manual order management, invoicing, and customer tracking.</a:t>
            </a:r>
            <a:endParaRPr lang="en-IN" sz="2400" dirty="0">
              <a:latin typeface="Aptos Display" panose="020B0004020202020204" pitchFamily="34" charset="0"/>
            </a:endParaRP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CB9D-96AE-CB6E-9C36-46448345056D}"/>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12461A6-C9CF-A279-E846-5AFA1CEF067A}"/>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a:extLst>
              <a:ext uri="{FF2B5EF4-FFF2-40B4-BE49-F238E27FC236}">
                <a16:creationId xmlns:a16="http://schemas.microsoft.com/office/drawing/2014/main" id="{B99D4242-71CF-DE3F-0B66-C21402FDCF6D}"/>
              </a:ext>
            </a:extLst>
          </p:cNvPr>
          <p:cNvSpPr>
            <a:spLocks noChangeArrowheads="1"/>
          </p:cNvSpPr>
          <p:nvPr/>
        </p:nvSpPr>
        <p:spPr bwMode="auto">
          <a:xfrm>
            <a:off x="179512" y="59260"/>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4400" dirty="0">
                <a:solidFill>
                  <a:prstClr val="black"/>
                </a:solidFill>
                <a:latin typeface="Calibri"/>
                <a:ea typeface="+mj-ea"/>
                <a:cs typeface="+mj-cs"/>
                <a:sym typeface="Arial"/>
              </a:rPr>
              <a:t>A</a:t>
            </a:r>
            <a:r>
              <a:rPr lang="en-IN" sz="4400" dirty="0">
                <a:solidFill>
                  <a:prstClr val="black"/>
                </a:solidFill>
                <a:latin typeface="Calibri"/>
                <a:ea typeface="+mj-ea"/>
                <a:cs typeface="+mj-cs"/>
                <a:sym typeface="Arial"/>
              </a:rPr>
              <a:t>bout the Problem</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74824933-86C5-EFBA-36B9-358001A06AC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9E3AE5FC-8649-27D3-900D-5F6329A7F4F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FE099852-B907-412D-6E46-D21E628B3AD6}"/>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D2C9EBF9-DA1B-38B3-1E57-D50A6E2B8C29}"/>
              </a:ext>
            </a:extLst>
          </p:cNvPr>
          <p:cNvSpPr txBox="1"/>
          <p:nvPr/>
        </p:nvSpPr>
        <p:spPr>
          <a:xfrm>
            <a:off x="539552" y="1666628"/>
            <a:ext cx="7632848" cy="4062651"/>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Aptos Display" panose="020B0004020202020204" pitchFamily="34" charset="0"/>
              </a:rPr>
              <a:t>Many manufacturers rely on </a:t>
            </a:r>
            <a:r>
              <a:rPr lang="en-US" sz="2400" b="1" dirty="0">
                <a:latin typeface="Aptos Display" panose="020B0004020202020204" pitchFamily="34" charset="0"/>
              </a:rPr>
              <a:t>offline orders</a:t>
            </a:r>
            <a:r>
              <a:rPr lang="en-US" sz="2400" dirty="0">
                <a:latin typeface="Aptos Display" panose="020B0004020202020204" pitchFamily="34" charset="0"/>
              </a:rPr>
              <a:t> via calls, emails, or spreadsheets.</a:t>
            </a:r>
          </a:p>
          <a:p>
            <a:pPr marL="285750" indent="-285750">
              <a:buFont typeface="Arial" panose="020B0604020202020204" pitchFamily="34" charset="0"/>
              <a:buChar char="•"/>
            </a:pPr>
            <a:endParaRPr lang="en-US" sz="2400" dirty="0">
              <a:latin typeface="Aptos Display" panose="020B0004020202020204" pitchFamily="34" charset="0"/>
            </a:endParaRPr>
          </a:p>
          <a:p>
            <a:pPr marL="285750" indent="-285750">
              <a:buFont typeface="Arial" panose="020B0604020202020204" pitchFamily="34" charset="0"/>
              <a:buChar char="•"/>
            </a:pPr>
            <a:r>
              <a:rPr lang="en-US" sz="2400" dirty="0">
                <a:latin typeface="Aptos Display" panose="020B0004020202020204" pitchFamily="34" charset="0"/>
              </a:rPr>
              <a:t>Need for a </a:t>
            </a:r>
            <a:r>
              <a:rPr lang="en-US" sz="2400" b="1" dirty="0">
                <a:latin typeface="Aptos Display" panose="020B0004020202020204" pitchFamily="34" charset="0"/>
              </a:rPr>
              <a:t>centralized platform</a:t>
            </a:r>
            <a:r>
              <a:rPr lang="en-US" sz="2400" dirty="0">
                <a:latin typeface="Aptos Display" panose="020B0004020202020204" pitchFamily="34" charset="0"/>
              </a:rPr>
              <a:t> to manage orders.</a:t>
            </a:r>
          </a:p>
          <a:p>
            <a:pPr marL="285750" indent="-285750">
              <a:buFont typeface="Arial" panose="020B0604020202020204" pitchFamily="34" charset="0"/>
              <a:buChar char="•"/>
            </a:pPr>
            <a:endParaRPr lang="en-US" sz="2400" dirty="0">
              <a:latin typeface="Aptos Display" panose="020B0004020202020204" pitchFamily="34" charset="0"/>
            </a:endParaRPr>
          </a:p>
          <a:p>
            <a:pPr marL="285750" indent="-285750">
              <a:buFont typeface="Arial" panose="020B0604020202020204" pitchFamily="34" charset="0"/>
              <a:buChar char="•"/>
            </a:pPr>
            <a:r>
              <a:rPr lang="en-US" sz="2400" b="1" dirty="0">
                <a:latin typeface="Aptos Display" panose="020B0004020202020204" pitchFamily="34" charset="0"/>
              </a:rPr>
              <a:t>Better customer retention</a:t>
            </a:r>
            <a:r>
              <a:rPr lang="en-US" sz="2400" dirty="0">
                <a:latin typeface="Aptos Display" panose="020B0004020202020204" pitchFamily="34" charset="0"/>
              </a:rPr>
              <a:t> through a business-friendly portal.</a:t>
            </a:r>
          </a:p>
          <a:p>
            <a:endParaRPr lang="en-US" sz="2400" dirty="0">
              <a:latin typeface="Aptos Display" panose="020B0004020202020204" pitchFamily="34" charset="0"/>
            </a:endParaRPr>
          </a:p>
          <a:p>
            <a:pPr marL="285750" indent="-285750">
              <a:buFont typeface="Arial" panose="020B0604020202020204" pitchFamily="34" charset="0"/>
              <a:buChar char="•"/>
            </a:pPr>
            <a:r>
              <a:rPr lang="en-US" sz="2400" b="1" dirty="0">
                <a:latin typeface="Aptos Display" panose="020B0004020202020204" pitchFamily="34" charset="0"/>
              </a:rPr>
              <a:t>Data-driven insights</a:t>
            </a:r>
            <a:r>
              <a:rPr lang="en-US" sz="2400" dirty="0">
                <a:latin typeface="Aptos Display" panose="020B0004020202020204" pitchFamily="34" charset="0"/>
              </a:rPr>
              <a:t> for sales trends and stock management.</a:t>
            </a:r>
          </a:p>
          <a:p>
            <a:endParaRPr lang="en-US" sz="1800" dirty="0"/>
          </a:p>
        </p:txBody>
      </p:sp>
    </p:spTree>
    <p:extLst>
      <p:ext uri="{BB962C8B-B14F-4D97-AF65-F5344CB8AC3E}">
        <p14:creationId xmlns:p14="http://schemas.microsoft.com/office/powerpoint/2010/main" val="3638403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12D7EC8-BFDC-C4B6-F5D1-9906B7D02893}"/>
              </a:ext>
            </a:extLst>
          </p:cNvPr>
          <p:cNvSpPr txBox="1"/>
          <p:nvPr/>
        </p:nvSpPr>
        <p:spPr>
          <a:xfrm>
            <a:off x="179512" y="1636540"/>
            <a:ext cx="8496944" cy="4278094"/>
          </a:xfrm>
          <a:prstGeom prst="rect">
            <a:avLst/>
          </a:prstGeom>
          <a:noFill/>
        </p:spPr>
        <p:txBody>
          <a:bodyPr wrap="square">
            <a:spAutoFit/>
          </a:bodyPr>
          <a:lstStyle/>
          <a:p>
            <a:pPr marL="285750" indent="-285750">
              <a:buFont typeface="Arial" panose="020B0604020202020204" pitchFamily="34" charset="0"/>
              <a:buChar char="•"/>
            </a:pPr>
            <a:r>
              <a:rPr lang="en-US" sz="2000" dirty="0"/>
              <a:t>Many manufacturers rely on </a:t>
            </a:r>
            <a:r>
              <a:rPr lang="en-US" sz="2000" b="1" dirty="0"/>
              <a:t>offline orders</a:t>
            </a:r>
            <a:r>
              <a:rPr lang="en-US" sz="2000" dirty="0"/>
              <a:t> via calls, emails, or spreadsheets.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Need for a </a:t>
            </a:r>
            <a:r>
              <a:rPr lang="en-US" sz="2000" b="1" dirty="0"/>
              <a:t>centralized platform</a:t>
            </a:r>
            <a:r>
              <a:rPr lang="en-US" sz="2000" dirty="0"/>
              <a:t> to manage orders.</a:t>
            </a:r>
          </a:p>
          <a:p>
            <a:endParaRPr lang="en-IN" sz="2000" dirty="0"/>
          </a:p>
          <a:p>
            <a:pPr marL="285750" indent="-285750">
              <a:buFont typeface="Arial" panose="020B0604020202020204" pitchFamily="34" charset="0"/>
              <a:buChar char="•"/>
            </a:pPr>
            <a:r>
              <a:rPr lang="en-US" sz="2000" dirty="0"/>
              <a:t>Discuss the website schema with the client and start developing the website.</a:t>
            </a:r>
          </a:p>
          <a:p>
            <a:endParaRPr lang="en-US" sz="2000" dirty="0"/>
          </a:p>
          <a:p>
            <a:pPr marL="285750" indent="-285750">
              <a:buFont typeface="Arial" panose="020B0604020202020204" pitchFamily="34" charset="0"/>
              <a:buChar char="•"/>
            </a:pPr>
            <a:r>
              <a:rPr lang="en-US" sz="2000" b="1" dirty="0"/>
              <a:t>Better customer retention</a:t>
            </a:r>
            <a:r>
              <a:rPr lang="en-US" sz="2000" dirty="0"/>
              <a:t> through a business-friendly portal.</a:t>
            </a:r>
          </a:p>
          <a:p>
            <a:endParaRPr lang="en-US" sz="2000" dirty="0"/>
          </a:p>
          <a:p>
            <a:pPr marL="285750" indent="-285750">
              <a:buFont typeface="Arial" panose="020B0604020202020204" pitchFamily="34" charset="0"/>
              <a:buChar char="•"/>
            </a:pPr>
            <a:r>
              <a:rPr lang="en-US" sz="2000" b="1" dirty="0"/>
              <a:t>Data-driven insights</a:t>
            </a:r>
            <a:r>
              <a:rPr lang="en-US" sz="2000" dirty="0"/>
              <a:t> for sales trends and stock management.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Scalable website created which can be extended later on in further </a:t>
            </a:r>
          </a:p>
          <a:p>
            <a:r>
              <a:rPr lang="en-US" sz="2000" dirty="0"/>
              <a:t>     stages of development.</a:t>
            </a:r>
          </a:p>
          <a:p>
            <a:pPr marL="457200" indent="-457200">
              <a:buFont typeface="Arial" panose="020B0604020202020204" pitchFamily="34" charset="0"/>
              <a:buChar char="•"/>
            </a:pPr>
            <a:endParaRPr lang="en-IN" sz="3200" dirty="0"/>
          </a:p>
        </p:txBody>
      </p:sp>
    </p:spTree>
    <p:extLst>
      <p:ext uri="{BB962C8B-B14F-4D97-AF65-F5344CB8AC3E}">
        <p14:creationId xmlns:p14="http://schemas.microsoft.com/office/powerpoint/2010/main" val="1047329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72008"/>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7B14FE12-9F36-1DAE-B174-062D669256D2}"/>
              </a:ext>
            </a:extLst>
          </p:cNvPr>
          <p:cNvSpPr txBox="1"/>
          <p:nvPr/>
        </p:nvSpPr>
        <p:spPr>
          <a:xfrm>
            <a:off x="179512" y="1538147"/>
            <a:ext cx="8352928" cy="4401205"/>
          </a:xfrm>
          <a:prstGeom prst="rect">
            <a:avLst/>
          </a:prstGeom>
          <a:noFill/>
        </p:spPr>
        <p:txBody>
          <a:bodyPr wrap="square">
            <a:spAutoFit/>
          </a:bodyPr>
          <a:lstStyle/>
          <a:p>
            <a:pPr marL="285750" indent="-285750">
              <a:buFont typeface="Arial" panose="020B0604020202020204" pitchFamily="34" charset="0"/>
              <a:buChar char="•"/>
            </a:pPr>
            <a:r>
              <a:rPr lang="en-US" sz="2800" dirty="0"/>
              <a:t>Provide a </a:t>
            </a:r>
            <a:r>
              <a:rPr lang="en-US" sz="2800" b="1" dirty="0"/>
              <a:t>secure dashboard</a:t>
            </a:r>
            <a:r>
              <a:rPr lang="en-US" sz="2800" dirty="0"/>
              <a:t> for inventory, order processing, and analytics.</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Enable a manufacturer to </a:t>
            </a:r>
            <a:r>
              <a:rPr lang="en-US" sz="2800" b="1" dirty="0"/>
              <a:t>list products</a:t>
            </a:r>
            <a:r>
              <a:rPr lang="en-US" sz="2800" dirty="0"/>
              <a:t> and </a:t>
            </a:r>
            <a:r>
              <a:rPr lang="en-US" sz="2800" b="1" dirty="0"/>
              <a:t>manage bulk orders.</a:t>
            </a:r>
          </a:p>
          <a:p>
            <a:endParaRPr lang="en-US" sz="2800" dirty="0"/>
          </a:p>
          <a:p>
            <a:pPr marL="285750" indent="-285750">
              <a:buFont typeface="Arial" panose="020B0604020202020204" pitchFamily="34" charset="0"/>
              <a:buChar char="•"/>
            </a:pPr>
            <a:r>
              <a:rPr lang="en-US" sz="2800" dirty="0"/>
              <a:t>Facilitate </a:t>
            </a:r>
            <a:r>
              <a:rPr lang="en-US" sz="2800" b="1" dirty="0"/>
              <a:t>business customer login</a:t>
            </a:r>
            <a:r>
              <a:rPr lang="en-US" sz="2800" dirty="0"/>
              <a:t> and bulk ordering.</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Offer </a:t>
            </a:r>
            <a:r>
              <a:rPr lang="en-US" sz="2800" b="1" dirty="0"/>
              <a:t>mobile-responsive and scalable</a:t>
            </a:r>
            <a:r>
              <a:rPr lang="en-US" sz="2800" dirty="0"/>
              <a:t> web &amp; app solutions</a:t>
            </a:r>
            <a:r>
              <a:rPr lang="en-IN" sz="2800" dirty="0"/>
              <a:t>.</a:t>
            </a:r>
          </a:p>
        </p:txBody>
      </p:sp>
    </p:spTree>
    <p:extLst>
      <p:ext uri="{BB962C8B-B14F-4D97-AF65-F5344CB8AC3E}">
        <p14:creationId xmlns:p14="http://schemas.microsoft.com/office/powerpoint/2010/main" val="957423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56592" y="-208661"/>
            <a:ext cx="9180512" cy="6885384"/>
          </a:xfrm>
        </p:spPr>
      </p:pic>
      <p:sp>
        <p:nvSpPr>
          <p:cNvPr id="5" name="Rectangle 1"/>
          <p:cNvSpPr>
            <a:spLocks noChangeArrowheads="1"/>
          </p:cNvSpPr>
          <p:nvPr/>
        </p:nvSpPr>
        <p:spPr bwMode="auto">
          <a:xfrm>
            <a:off x="179512" y="151593"/>
            <a:ext cx="857318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Tools, and Techniques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44FD2DEC-853B-1F58-B958-D38FBE8F7014}"/>
              </a:ext>
            </a:extLst>
          </p:cNvPr>
          <p:cNvSpPr txBox="1"/>
          <p:nvPr/>
        </p:nvSpPr>
        <p:spPr>
          <a:xfrm>
            <a:off x="720080" y="1869893"/>
            <a:ext cx="7524328" cy="3970318"/>
          </a:xfrm>
          <a:prstGeom prst="rect">
            <a:avLst/>
          </a:prstGeom>
          <a:noFill/>
        </p:spPr>
        <p:txBody>
          <a:bodyPr wrap="square">
            <a:spAutoFit/>
          </a:bodyPr>
          <a:lstStyle/>
          <a:p>
            <a:pPr marL="285750" indent="-285750">
              <a:buFont typeface="Arial" panose="020B0604020202020204" pitchFamily="34" charset="0"/>
              <a:buChar char="•"/>
            </a:pPr>
            <a:r>
              <a:rPr lang="en-US" sz="2800" dirty="0"/>
              <a:t>Developing Website Using Html, </a:t>
            </a:r>
            <a:r>
              <a:rPr lang="en-US" sz="2800" dirty="0" err="1"/>
              <a:t>Css</a:t>
            </a:r>
            <a:r>
              <a:rPr lang="en-US" sz="2800" dirty="0"/>
              <a:t> , </a:t>
            </a:r>
            <a:r>
              <a:rPr lang="en-US" sz="2800" dirty="0" err="1"/>
              <a:t>Javascript</a:t>
            </a:r>
            <a:endParaRPr lang="en-US" sz="2800" dirty="0"/>
          </a:p>
          <a:p>
            <a:r>
              <a:rPr lang="en-US" sz="2800" dirty="0"/>
              <a:t>    and Node.js.</a:t>
            </a:r>
          </a:p>
          <a:p>
            <a:endParaRPr lang="en-US" sz="2800" dirty="0"/>
          </a:p>
          <a:p>
            <a:pPr marL="285750" indent="-285750">
              <a:buFont typeface="Arial" panose="020B0604020202020204" pitchFamily="34" charset="0"/>
              <a:buChar char="•"/>
            </a:pPr>
            <a:r>
              <a:rPr lang="en-US" sz="2800" dirty="0"/>
              <a:t>Making revisions where necessary as instructed by the client.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IN" sz="2800" dirty="0"/>
              <a:t>After complete website design and development has been finished, replace all placeholder content with real-world data of manufacturer.</a:t>
            </a:r>
          </a:p>
        </p:txBody>
      </p:sp>
    </p:spTree>
    <p:extLst>
      <p:ext uri="{BB962C8B-B14F-4D97-AF65-F5344CB8AC3E}">
        <p14:creationId xmlns:p14="http://schemas.microsoft.com/office/powerpoint/2010/main" val="329581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153175"/>
            <a:ext cx="9180512" cy="6885384"/>
          </a:xfrm>
        </p:spPr>
      </p:pic>
      <p:sp>
        <p:nvSpPr>
          <p:cNvPr id="5" name="Rectangle 1"/>
          <p:cNvSpPr>
            <a:spLocks noChangeArrowheads="1"/>
          </p:cNvSpPr>
          <p:nvPr/>
        </p:nvSpPr>
        <p:spPr bwMode="auto">
          <a:xfrm>
            <a:off x="177133" y="315867"/>
            <a:ext cx="828092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6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6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72009" y="980728"/>
            <a:ext cx="8892480" cy="6063198"/>
          </a:xfrm>
          <a:prstGeom prst="rect">
            <a:avLst/>
          </a:prstGeom>
          <a:noFill/>
        </p:spPr>
        <p:txBody>
          <a:bodyPr wrap="square">
            <a:spAutoFit/>
          </a:bodyPr>
          <a:lstStyle/>
          <a:p>
            <a:r>
              <a:rPr lang="en-US" sz="14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p>
          <a:p>
            <a:endParaRPr lang="en-US" sz="2000" dirty="0"/>
          </a:p>
          <a:p>
            <a:endParaRPr lang="en-US" sz="2000" dirty="0"/>
          </a:p>
          <a:p>
            <a:endParaRPr lang="en-US" sz="2000" dirty="0"/>
          </a:p>
          <a:p>
            <a:endParaRPr lang="en-US" sz="2000" dirty="0"/>
          </a:p>
          <a:p>
            <a:endParaRPr lang="en-US" sz="2400"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endParaRPr lang="en-US" sz="2000" b="1" dirty="0"/>
          </a:p>
          <a:p>
            <a:pPr>
              <a:buFont typeface="Arial" panose="020B0604020202020204" pitchFamily="34" charset="0"/>
              <a:buChar char="•"/>
            </a:pPr>
            <a:endParaRPr lang="en-US" sz="1400" dirty="0"/>
          </a:p>
          <a:p>
            <a:r>
              <a:rPr lang="en-US" sz="1400" dirty="0"/>
              <a:t>                                                       </a:t>
            </a:r>
          </a:p>
          <a:p>
            <a:endParaRPr lang="en-US" sz="1400" dirty="0"/>
          </a:p>
          <a:p>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Rounded Corners 1">
            <a:extLst>
              <a:ext uri="{FF2B5EF4-FFF2-40B4-BE49-F238E27FC236}">
                <a16:creationId xmlns:a16="http://schemas.microsoft.com/office/drawing/2014/main" id="{8E4FCC5A-19B6-7607-D91F-6948DB90F443}"/>
              </a:ext>
            </a:extLst>
          </p:cNvPr>
          <p:cNvSpPr/>
          <p:nvPr/>
        </p:nvSpPr>
        <p:spPr>
          <a:xfrm>
            <a:off x="69614" y="1429869"/>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r>
              <a:rPr lang="en-US" sz="2000" b="1" dirty="0">
                <a:solidFill>
                  <a:schemeClr val="tx1"/>
                </a:solidFill>
              </a:rPr>
              <a:t>1. Requirement Gathering &amp; Analysis</a:t>
            </a:r>
          </a:p>
          <a:p>
            <a:pPr>
              <a:buFont typeface="Arial" panose="020B0604020202020204" pitchFamily="34" charset="0"/>
              <a:buChar char="•"/>
            </a:pPr>
            <a:r>
              <a:rPr lang="en-US" sz="2000" dirty="0">
                <a:solidFill>
                  <a:schemeClr val="tx1"/>
                </a:solidFill>
              </a:rPr>
              <a:t>Identify business needs and target users                                       </a:t>
            </a:r>
          </a:p>
          <a:p>
            <a:pPr>
              <a:buFont typeface="Arial" panose="020B0604020202020204" pitchFamily="34" charset="0"/>
              <a:buChar char="•"/>
            </a:pPr>
            <a:r>
              <a:rPr lang="en-US" sz="2000" dirty="0">
                <a:solidFill>
                  <a:schemeClr val="tx1"/>
                </a:solidFill>
              </a:rPr>
              <a:t>Define system architecture &amp; technology stack</a:t>
            </a:r>
          </a:p>
          <a:p>
            <a:pPr algn="ctr"/>
            <a:endParaRPr lang="en-US" dirty="0"/>
          </a:p>
        </p:txBody>
      </p:sp>
      <p:sp>
        <p:nvSpPr>
          <p:cNvPr id="8" name="Rectangle: Rounded Corners 7">
            <a:extLst>
              <a:ext uri="{FF2B5EF4-FFF2-40B4-BE49-F238E27FC236}">
                <a16:creationId xmlns:a16="http://schemas.microsoft.com/office/drawing/2014/main" id="{635C819D-94EA-C6B9-4B01-ADB879372CB5}"/>
              </a:ext>
            </a:extLst>
          </p:cNvPr>
          <p:cNvSpPr/>
          <p:nvPr/>
        </p:nvSpPr>
        <p:spPr>
          <a:xfrm>
            <a:off x="96009" y="3060179"/>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r>
              <a:rPr lang="en-US" sz="2000" b="1" dirty="0">
                <a:solidFill>
                  <a:schemeClr val="tx1"/>
                </a:solidFill>
              </a:rPr>
              <a:t>2. UI/UX Design &amp; Wireframing</a:t>
            </a:r>
            <a:endParaRPr lang="en-US" sz="2000" dirty="0">
              <a:solidFill>
                <a:schemeClr val="tx1"/>
              </a:solidFill>
            </a:endParaRPr>
          </a:p>
          <a:p>
            <a:pPr>
              <a:buFont typeface="Arial" panose="020B0604020202020204" pitchFamily="34" charset="0"/>
              <a:buChar char="•"/>
            </a:pPr>
            <a:r>
              <a:rPr lang="en-US" sz="2000" dirty="0">
                <a:solidFill>
                  <a:schemeClr val="tx1"/>
                </a:solidFill>
              </a:rPr>
              <a:t>Design user-friendly website/app interface</a:t>
            </a:r>
          </a:p>
          <a:p>
            <a:pPr>
              <a:buFont typeface="Arial" panose="020B0604020202020204" pitchFamily="34" charset="0"/>
              <a:buChar char="•"/>
            </a:pPr>
            <a:r>
              <a:rPr lang="en-US" sz="2000" dirty="0">
                <a:solidFill>
                  <a:schemeClr val="tx1"/>
                </a:solidFill>
              </a:rPr>
              <a:t>Finalize design based on feedback</a:t>
            </a:r>
          </a:p>
          <a:p>
            <a:endParaRPr lang="en-US" sz="2000" b="1" dirty="0">
              <a:solidFill>
                <a:schemeClr val="tx1"/>
              </a:solidFill>
            </a:endParaRPr>
          </a:p>
          <a:p>
            <a:endParaRPr lang="en-US" dirty="0"/>
          </a:p>
        </p:txBody>
      </p:sp>
      <p:sp>
        <p:nvSpPr>
          <p:cNvPr id="10" name="Rectangle: Rounded Corners 9">
            <a:extLst>
              <a:ext uri="{FF2B5EF4-FFF2-40B4-BE49-F238E27FC236}">
                <a16:creationId xmlns:a16="http://schemas.microsoft.com/office/drawing/2014/main" id="{5204B3DE-C231-990F-60C8-E7962C16766D}"/>
              </a:ext>
            </a:extLst>
          </p:cNvPr>
          <p:cNvSpPr/>
          <p:nvPr/>
        </p:nvSpPr>
        <p:spPr>
          <a:xfrm>
            <a:off x="96009" y="4746490"/>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b="1" dirty="0"/>
          </a:p>
          <a:p>
            <a:endParaRPr lang="en-US" sz="2000" b="1" dirty="0"/>
          </a:p>
          <a:p>
            <a:endParaRPr lang="en-US" sz="2000" b="1" dirty="0"/>
          </a:p>
          <a:p>
            <a:r>
              <a:rPr lang="en-US" sz="2000" b="1" dirty="0">
                <a:solidFill>
                  <a:schemeClr val="tx1"/>
                </a:solidFill>
              </a:rPr>
              <a:t>3. Development Phase 1 (Frontend &amp; Backend Setup)</a:t>
            </a:r>
          </a:p>
          <a:p>
            <a:pPr>
              <a:buFont typeface="Arial" panose="020B0604020202020204" pitchFamily="34" charset="0"/>
              <a:buChar char="•"/>
            </a:pPr>
            <a:r>
              <a:rPr lang="en-US" sz="2000" dirty="0">
                <a:solidFill>
                  <a:schemeClr val="tx1"/>
                </a:solidFill>
              </a:rPr>
              <a:t>Develop website/app frontend using React, Angular, or Vue.js</a:t>
            </a:r>
          </a:p>
          <a:p>
            <a:endParaRPr lang="en-US" sz="2000" dirty="0"/>
          </a:p>
          <a:p>
            <a:endParaRPr lang="en-US" sz="2000" b="1" dirty="0">
              <a:solidFill>
                <a:schemeClr val="tx1"/>
              </a:solidFill>
            </a:endParaRPr>
          </a:p>
          <a:p>
            <a:pPr algn="ctr"/>
            <a:endParaRPr lang="en-US" dirty="0"/>
          </a:p>
        </p:txBody>
      </p:sp>
    </p:spTree>
    <p:extLst>
      <p:ext uri="{BB962C8B-B14F-4D97-AF65-F5344CB8AC3E}">
        <p14:creationId xmlns:p14="http://schemas.microsoft.com/office/powerpoint/2010/main" val="2093371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DC56D-4868-7FEC-75DA-9EA1FD71DAE2}"/>
              </a:ext>
            </a:extLst>
          </p:cNvPr>
          <p:cNvSpPr>
            <a:spLocks noGrp="1"/>
          </p:cNvSpPr>
          <p:nvPr>
            <p:ph type="title"/>
          </p:nvPr>
        </p:nvSpPr>
        <p:spPr/>
        <p:txBody>
          <a:bodyPr/>
          <a:lstStyle/>
          <a:p>
            <a:endParaRPr lang="en-US" dirty="0"/>
          </a:p>
        </p:txBody>
      </p:sp>
      <p:cxnSp>
        <p:nvCxnSpPr>
          <p:cNvPr id="4" name="Straight Connector 3">
            <a:extLst>
              <a:ext uri="{FF2B5EF4-FFF2-40B4-BE49-F238E27FC236}">
                <a16:creationId xmlns:a16="http://schemas.microsoft.com/office/drawing/2014/main" id="{1F096DED-B80F-A77B-9C4C-D95A2756F29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5" name="Content Placeholder 3">
            <a:extLst>
              <a:ext uri="{FF2B5EF4-FFF2-40B4-BE49-F238E27FC236}">
                <a16:creationId xmlns:a16="http://schemas.microsoft.com/office/drawing/2014/main" id="{1C2BCD7A-AD2E-CDF2-57A6-130CE1F6939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56" y="0"/>
            <a:ext cx="9180512" cy="6885384"/>
          </a:xfrm>
          <a:prstGeom prst="rect">
            <a:avLst/>
          </a:prstGeom>
        </p:spPr>
      </p:pic>
      <p:pic>
        <p:nvPicPr>
          <p:cNvPr id="6" name="Picture 5">
            <a:extLst>
              <a:ext uri="{FF2B5EF4-FFF2-40B4-BE49-F238E27FC236}">
                <a16:creationId xmlns:a16="http://schemas.microsoft.com/office/drawing/2014/main" id="{775E4122-45BD-4FBF-AA90-D8B53EFBD6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6236671"/>
            <a:ext cx="2411760" cy="346691"/>
          </a:xfrm>
          <a:prstGeom prst="rect">
            <a:avLst/>
          </a:prstGeom>
        </p:spPr>
      </p:pic>
      <p:sp>
        <p:nvSpPr>
          <p:cNvPr id="12" name="Rectangle: Rounded Corners 11">
            <a:extLst>
              <a:ext uri="{FF2B5EF4-FFF2-40B4-BE49-F238E27FC236}">
                <a16:creationId xmlns:a16="http://schemas.microsoft.com/office/drawing/2014/main" id="{DAB684A1-1950-3F7F-E5BF-B18CF8D8B261}"/>
              </a:ext>
            </a:extLst>
          </p:cNvPr>
          <p:cNvSpPr/>
          <p:nvPr/>
        </p:nvSpPr>
        <p:spPr>
          <a:xfrm>
            <a:off x="19107" y="663467"/>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endParaRPr lang="en-US" sz="2000" b="1" dirty="0">
              <a:solidFill>
                <a:schemeClr val="tx1"/>
              </a:solidFill>
            </a:endParaRPr>
          </a:p>
          <a:p>
            <a:r>
              <a:rPr lang="en-US" sz="2000" b="1" dirty="0">
                <a:solidFill>
                  <a:schemeClr val="tx1"/>
                </a:solidFill>
              </a:rPr>
              <a:t>4. Development Phase 2 (Core Functionalities)</a:t>
            </a:r>
          </a:p>
          <a:p>
            <a:pPr>
              <a:buFont typeface="Arial" panose="020B0604020202020204" pitchFamily="34" charset="0"/>
              <a:buChar char="•"/>
            </a:pPr>
            <a:r>
              <a:rPr lang="en-US" sz="2000" dirty="0">
                <a:solidFill>
                  <a:schemeClr val="tx1"/>
                </a:solidFill>
              </a:rPr>
              <a:t>Implement user authentication (Login, Signup, Role-Based Access).</a:t>
            </a:r>
          </a:p>
          <a:p>
            <a:endParaRPr lang="en-US" sz="2000" dirty="0"/>
          </a:p>
          <a:p>
            <a:endParaRPr lang="en-US" sz="2000" b="1" dirty="0">
              <a:solidFill>
                <a:schemeClr val="tx1"/>
              </a:solidFill>
            </a:endParaRPr>
          </a:p>
        </p:txBody>
      </p:sp>
      <p:sp>
        <p:nvSpPr>
          <p:cNvPr id="13" name="Rectangle: Rounded Corners 12">
            <a:extLst>
              <a:ext uri="{FF2B5EF4-FFF2-40B4-BE49-F238E27FC236}">
                <a16:creationId xmlns:a16="http://schemas.microsoft.com/office/drawing/2014/main" id="{74DFBBD2-5228-9A33-EFD0-A0BFFAC86FBC}"/>
              </a:ext>
            </a:extLst>
          </p:cNvPr>
          <p:cNvSpPr/>
          <p:nvPr/>
        </p:nvSpPr>
        <p:spPr>
          <a:xfrm>
            <a:off x="0" y="2637065"/>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solidFill>
            </a:endParaRPr>
          </a:p>
          <a:p>
            <a:r>
              <a:rPr lang="en-US" sz="2000" b="1" dirty="0">
                <a:solidFill>
                  <a:schemeClr val="tx1"/>
                </a:solidFill>
              </a:rPr>
              <a:t>5. Testing &amp; Debugging</a:t>
            </a:r>
          </a:p>
          <a:p>
            <a:pPr>
              <a:buFont typeface="Arial" panose="020B0604020202020204" pitchFamily="34" charset="0"/>
              <a:buChar char="•"/>
            </a:pPr>
            <a:r>
              <a:rPr lang="en-US" sz="2000" dirty="0">
                <a:solidFill>
                  <a:schemeClr val="tx1"/>
                </a:solidFill>
              </a:rPr>
              <a:t>Unit testing for individual components</a:t>
            </a:r>
          </a:p>
          <a:p>
            <a:pPr>
              <a:buFont typeface="Arial" panose="020B0604020202020204" pitchFamily="34" charset="0"/>
              <a:buChar char="•"/>
            </a:pPr>
            <a:r>
              <a:rPr lang="en-US" sz="2000" dirty="0">
                <a:solidFill>
                  <a:schemeClr val="tx1"/>
                </a:solidFill>
              </a:rPr>
              <a:t>Integration testing for system compatibility.</a:t>
            </a:r>
          </a:p>
          <a:p>
            <a:endParaRPr lang="en-US" sz="2000" b="1" dirty="0">
              <a:solidFill>
                <a:schemeClr val="tx1"/>
              </a:solidFill>
            </a:endParaRPr>
          </a:p>
        </p:txBody>
      </p:sp>
      <p:sp>
        <p:nvSpPr>
          <p:cNvPr id="14" name="Rectangle: Rounded Corners 13">
            <a:extLst>
              <a:ext uri="{FF2B5EF4-FFF2-40B4-BE49-F238E27FC236}">
                <a16:creationId xmlns:a16="http://schemas.microsoft.com/office/drawing/2014/main" id="{7CF12F64-3129-F3ED-455E-81E8EBBAF1D7}"/>
              </a:ext>
            </a:extLst>
          </p:cNvPr>
          <p:cNvSpPr/>
          <p:nvPr/>
        </p:nvSpPr>
        <p:spPr>
          <a:xfrm>
            <a:off x="19107" y="4578439"/>
            <a:ext cx="5330971" cy="1380438"/>
          </a:xfrm>
          <a:prstGeom prst="roundRect">
            <a:avLst/>
          </a:prstGeom>
          <a:solidFill>
            <a:schemeClr val="tx2">
              <a:lumMod val="20000"/>
              <a:lumOff val="8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800" b="1" dirty="0">
                <a:solidFill>
                  <a:schemeClr val="tx1"/>
                </a:solidFill>
              </a:rPr>
              <a:t>6. Deployment &amp; Launch</a:t>
            </a:r>
          </a:p>
          <a:p>
            <a:pPr>
              <a:buFont typeface="Arial" panose="020B0604020202020204" pitchFamily="34" charset="0"/>
              <a:buChar char="•"/>
            </a:pPr>
            <a:r>
              <a:rPr lang="en-US" sz="1800" dirty="0">
                <a:solidFill>
                  <a:schemeClr val="tx1"/>
                </a:solidFill>
              </a:rPr>
              <a:t>Deploy on cloud (AWS, Azure, or Google Cloud)</a:t>
            </a:r>
          </a:p>
          <a:p>
            <a:pPr>
              <a:buFont typeface="Arial" panose="020B0604020202020204" pitchFamily="34" charset="0"/>
              <a:buChar char="•"/>
            </a:pPr>
            <a:r>
              <a:rPr lang="en-US" sz="1800" dirty="0">
                <a:solidFill>
                  <a:schemeClr val="tx1"/>
                </a:solidFill>
              </a:rPr>
              <a:t>Optimize for scalability &amp; security.</a:t>
            </a:r>
          </a:p>
          <a:p>
            <a:pPr algn="ctr"/>
            <a:endParaRPr lang="en-US" dirty="0"/>
          </a:p>
        </p:txBody>
      </p:sp>
    </p:spTree>
    <p:extLst>
      <p:ext uri="{BB962C8B-B14F-4D97-AF65-F5344CB8AC3E}">
        <p14:creationId xmlns:p14="http://schemas.microsoft.com/office/powerpoint/2010/main" val="575063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841B-74CA-DD08-DC57-2744796991CE}"/>
            </a:ext>
          </a:extLst>
        </p:cNvPr>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AC2900B-3645-9BD6-81D9-B808969A6610}"/>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30729" y="26713"/>
            <a:ext cx="9180512" cy="6885384"/>
          </a:xfrm>
        </p:spPr>
      </p:pic>
      <p:sp>
        <p:nvSpPr>
          <p:cNvPr id="5" name="Rectangle 1">
            <a:extLst>
              <a:ext uri="{FF2B5EF4-FFF2-40B4-BE49-F238E27FC236}">
                <a16:creationId xmlns:a16="http://schemas.microsoft.com/office/drawing/2014/main" id="{C8ECEBC8-6DCD-2500-2951-CF7967A47215}"/>
              </a:ext>
            </a:extLst>
          </p:cNvPr>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DB126F11-6A87-E75F-D5F6-D578C1CC7C27}"/>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006947D3-B53B-9D95-1C04-7E3AA0B640B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45C40F21-AABC-DFB9-90B1-AD1CF565BB7B}"/>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C25EFF5-AF9C-76FF-5A3A-E82B1776BD0E}"/>
              </a:ext>
            </a:extLst>
          </p:cNvPr>
          <p:cNvGraphicFramePr>
            <a:graphicFrameLocks noGrp="1"/>
          </p:cNvGraphicFramePr>
          <p:nvPr>
            <p:extLst>
              <p:ext uri="{D42A27DB-BD31-4B8C-83A1-F6EECF244321}">
                <p14:modId xmlns:p14="http://schemas.microsoft.com/office/powerpoint/2010/main" val="4187095696"/>
              </p:ext>
            </p:extLst>
          </p:nvPr>
        </p:nvGraphicFramePr>
        <p:xfrm>
          <a:off x="-180528" y="1251352"/>
          <a:ext cx="9180513" cy="5129976"/>
        </p:xfrm>
        <a:graphic>
          <a:graphicData uri="http://schemas.openxmlformats.org/drawingml/2006/table">
            <a:tbl>
              <a:tblPr/>
              <a:tblGrid>
                <a:gridCol w="3060171">
                  <a:extLst>
                    <a:ext uri="{9D8B030D-6E8A-4147-A177-3AD203B41FA5}">
                      <a16:colId xmlns:a16="http://schemas.microsoft.com/office/drawing/2014/main" val="2302517861"/>
                    </a:ext>
                  </a:extLst>
                </a:gridCol>
                <a:gridCol w="3060171">
                  <a:extLst>
                    <a:ext uri="{9D8B030D-6E8A-4147-A177-3AD203B41FA5}">
                      <a16:colId xmlns:a16="http://schemas.microsoft.com/office/drawing/2014/main" val="2438939538"/>
                    </a:ext>
                  </a:extLst>
                </a:gridCol>
                <a:gridCol w="3060171">
                  <a:extLst>
                    <a:ext uri="{9D8B030D-6E8A-4147-A177-3AD203B41FA5}">
                      <a16:colId xmlns:a16="http://schemas.microsoft.com/office/drawing/2014/main" val="1471233264"/>
                    </a:ext>
                  </a:extLst>
                </a:gridCol>
              </a:tblGrid>
              <a:tr h="437412">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1924556597"/>
                  </a:ext>
                </a:extLst>
              </a:tr>
              <a:tr h="1093529">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1401755625"/>
                  </a:ext>
                </a:extLst>
              </a:tr>
              <a:tr h="1411977">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extLst>
                  <a:ext uri="{0D108BD9-81ED-4DB2-BD59-A6C34878D82A}">
                    <a16:rowId xmlns:a16="http://schemas.microsoft.com/office/drawing/2014/main" val="1397901539"/>
                  </a:ext>
                </a:extLst>
              </a:tr>
              <a:tr h="1093529">
                <a:tc>
                  <a:txBody>
                    <a:bodyPr/>
                    <a:lstStyle/>
                    <a:p>
                      <a:endParaRPr lang="en-US" dirty="0"/>
                    </a:p>
                  </a:txBody>
                  <a:tcPr anchor="ctr">
                    <a:lnL>
                      <a:noFill/>
                    </a:lnL>
                    <a:lnR>
                      <a:noFill/>
                    </a:lnR>
                    <a:lnT>
                      <a:noFill/>
                    </a:lnT>
                    <a:lnB>
                      <a:noFill/>
                    </a:lnB>
                    <a:noFill/>
                  </a:tcPr>
                </a:tc>
                <a:tc>
                  <a:txBody>
                    <a:bodyPr/>
                    <a:lstStyle/>
                    <a:p>
                      <a:endParaRPr lang="en-US"/>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4092970358"/>
                  </a:ext>
                </a:extLst>
              </a:tr>
              <a:tr h="1093529">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tc>
                  <a:txBody>
                    <a:bodyPr/>
                    <a:lstStyle/>
                    <a:p>
                      <a:endParaRPr lang="en-US" dirty="0"/>
                    </a:p>
                  </a:txBody>
                  <a:tcPr anchor="ctr">
                    <a:lnL>
                      <a:noFill/>
                    </a:lnL>
                    <a:lnR>
                      <a:noFill/>
                    </a:lnR>
                    <a:lnT>
                      <a:noFill/>
                    </a:lnT>
                    <a:lnB>
                      <a:noFill/>
                    </a:lnB>
                    <a:noFill/>
                  </a:tcPr>
                </a:tc>
                <a:extLst>
                  <a:ext uri="{0D108BD9-81ED-4DB2-BD59-A6C34878D82A}">
                    <a16:rowId xmlns:a16="http://schemas.microsoft.com/office/drawing/2014/main" val="2109282504"/>
                  </a:ext>
                </a:extLst>
              </a:tr>
            </a:tbl>
          </a:graphicData>
        </a:graphic>
      </p:graphicFrame>
      <p:graphicFrame>
        <p:nvGraphicFramePr>
          <p:cNvPr id="13" name="Table 12">
            <a:extLst>
              <a:ext uri="{FF2B5EF4-FFF2-40B4-BE49-F238E27FC236}">
                <a16:creationId xmlns:a16="http://schemas.microsoft.com/office/drawing/2014/main" id="{C20B1C0B-E913-899C-E96D-B7F1DFA1D0D1}"/>
              </a:ext>
            </a:extLst>
          </p:cNvPr>
          <p:cNvGraphicFramePr>
            <a:graphicFrameLocks noGrp="1"/>
          </p:cNvGraphicFramePr>
          <p:nvPr>
            <p:extLst>
              <p:ext uri="{D42A27DB-BD31-4B8C-83A1-F6EECF244321}">
                <p14:modId xmlns:p14="http://schemas.microsoft.com/office/powerpoint/2010/main" val="2898767227"/>
              </p:ext>
            </p:extLst>
          </p:nvPr>
        </p:nvGraphicFramePr>
        <p:xfrm>
          <a:off x="-180528" y="1191477"/>
          <a:ext cx="8712966" cy="4891820"/>
        </p:xfrm>
        <a:graphic>
          <a:graphicData uri="http://schemas.openxmlformats.org/drawingml/2006/table">
            <a:tbl>
              <a:tblPr firstRow="1" bandRow="1">
                <a:tableStyleId>{5C22544A-7EE6-4342-B048-85BDC9FD1C3A}</a:tableStyleId>
              </a:tblPr>
              <a:tblGrid>
                <a:gridCol w="2904322">
                  <a:extLst>
                    <a:ext uri="{9D8B030D-6E8A-4147-A177-3AD203B41FA5}">
                      <a16:colId xmlns:a16="http://schemas.microsoft.com/office/drawing/2014/main" val="874741908"/>
                    </a:ext>
                  </a:extLst>
                </a:gridCol>
                <a:gridCol w="2904322">
                  <a:extLst>
                    <a:ext uri="{9D8B030D-6E8A-4147-A177-3AD203B41FA5}">
                      <a16:colId xmlns:a16="http://schemas.microsoft.com/office/drawing/2014/main" val="644456995"/>
                    </a:ext>
                  </a:extLst>
                </a:gridCol>
                <a:gridCol w="2904322">
                  <a:extLst>
                    <a:ext uri="{9D8B030D-6E8A-4147-A177-3AD203B41FA5}">
                      <a16:colId xmlns:a16="http://schemas.microsoft.com/office/drawing/2014/main" val="2300305743"/>
                    </a:ext>
                  </a:extLst>
                </a:gridCol>
              </a:tblGrid>
              <a:tr h="350728">
                <a:tc>
                  <a:txBody>
                    <a:bodyPr/>
                    <a:lstStyle/>
                    <a:p>
                      <a:r>
                        <a:rPr lang="en-US" b="1" dirty="0"/>
                        <a:t>Phase</a:t>
                      </a:r>
                      <a:endParaRPr lang="en-US" dirty="0"/>
                    </a:p>
                  </a:txBody>
                  <a:tcPr anchor="ctr"/>
                </a:tc>
                <a:tc>
                  <a:txBody>
                    <a:bodyPr/>
                    <a:lstStyle/>
                    <a:p>
                      <a:r>
                        <a:rPr lang="en-US" b="1"/>
                        <a:t>Tasks Included</a:t>
                      </a:r>
                      <a:endParaRPr lang="en-US"/>
                    </a:p>
                  </a:txBody>
                  <a:tcPr anchor="ctr"/>
                </a:tc>
                <a:tc>
                  <a:txBody>
                    <a:bodyPr/>
                    <a:lstStyle/>
                    <a:p>
                      <a:r>
                        <a:rPr lang="en-US" b="1"/>
                        <a:t>Duration</a:t>
                      </a:r>
                      <a:endParaRPr lang="en-US"/>
                    </a:p>
                  </a:txBody>
                  <a:tcPr anchor="ctr"/>
                </a:tc>
                <a:extLst>
                  <a:ext uri="{0D108BD9-81ED-4DB2-BD59-A6C34878D82A}">
                    <a16:rowId xmlns:a16="http://schemas.microsoft.com/office/drawing/2014/main" val="2865631302"/>
                  </a:ext>
                </a:extLst>
              </a:tr>
              <a:tr h="1147669">
                <a:tc>
                  <a:txBody>
                    <a:bodyPr/>
                    <a:lstStyle/>
                    <a:p>
                      <a:r>
                        <a:rPr lang="en-US" b="1"/>
                        <a:t>Month 1: Planning &amp; Research</a:t>
                      </a:r>
                      <a:endParaRPr lang="en-US"/>
                    </a:p>
                  </a:txBody>
                  <a:tcPr anchor="ctr"/>
                </a:tc>
                <a:tc>
                  <a:txBody>
                    <a:bodyPr/>
                    <a:lstStyle/>
                    <a:p>
                      <a:r>
                        <a:rPr lang="en-US"/>
                        <a:t>Requirement Analysis, Competitor Research, Wireframing, UI/UX Design</a:t>
                      </a:r>
                    </a:p>
                  </a:txBody>
                  <a:tcPr anchor="ctr"/>
                </a:tc>
                <a:tc>
                  <a:txBody>
                    <a:bodyPr/>
                    <a:lstStyle/>
                    <a:p>
                      <a:r>
                        <a:rPr lang="en-US" dirty="0"/>
                        <a:t>2 Weeks</a:t>
                      </a:r>
                    </a:p>
                  </a:txBody>
                  <a:tcPr anchor="ctr"/>
                </a:tc>
                <a:extLst>
                  <a:ext uri="{0D108BD9-81ED-4DB2-BD59-A6C34878D82A}">
                    <a16:rowId xmlns:a16="http://schemas.microsoft.com/office/drawing/2014/main" val="1941489190"/>
                  </a:ext>
                </a:extLst>
              </a:tr>
              <a:tr h="1147669">
                <a:tc>
                  <a:txBody>
                    <a:bodyPr/>
                    <a:lstStyle/>
                    <a:p>
                      <a:r>
                        <a:rPr lang="en-US" b="1"/>
                        <a:t>Month 2: Development Phase 1</a:t>
                      </a:r>
                      <a:endParaRPr lang="en-US"/>
                    </a:p>
                  </a:txBody>
                  <a:tcPr anchor="ctr"/>
                </a:tc>
                <a:tc>
                  <a:txBody>
                    <a:bodyPr/>
                    <a:lstStyle/>
                    <a:p>
                      <a:r>
                        <a:rPr lang="en-US"/>
                        <a:t>Frontend Development (Website &amp; App UI), Backend Setup (Database, APIs)</a:t>
                      </a:r>
                    </a:p>
                  </a:txBody>
                  <a:tcPr anchor="ctr"/>
                </a:tc>
                <a:tc>
                  <a:txBody>
                    <a:bodyPr/>
                    <a:lstStyle/>
                    <a:p>
                      <a:r>
                        <a:rPr lang="en-US" dirty="0"/>
                        <a:t>4 Weeks</a:t>
                      </a:r>
                    </a:p>
                  </a:txBody>
                  <a:tcPr anchor="ctr"/>
                </a:tc>
                <a:extLst>
                  <a:ext uri="{0D108BD9-81ED-4DB2-BD59-A6C34878D82A}">
                    <a16:rowId xmlns:a16="http://schemas.microsoft.com/office/drawing/2014/main" val="813657704"/>
                  </a:ext>
                </a:extLst>
              </a:tr>
              <a:tr h="932481">
                <a:tc>
                  <a:txBody>
                    <a:bodyPr/>
                    <a:lstStyle/>
                    <a:p>
                      <a:r>
                        <a:rPr lang="en-US" b="1"/>
                        <a:t>Month 3: Development Phase 2</a:t>
                      </a:r>
                      <a:endParaRPr lang="en-US"/>
                    </a:p>
                  </a:txBody>
                  <a:tcPr anchor="ctr"/>
                </a:tc>
                <a:tc>
                  <a:txBody>
                    <a:bodyPr/>
                    <a:lstStyle/>
                    <a:p>
                      <a:r>
                        <a:rPr lang="en-US"/>
                        <a:t>Order Management Module, Payment Gateway, Dashboard &amp; Reports</a:t>
                      </a:r>
                    </a:p>
                  </a:txBody>
                  <a:tcPr anchor="ctr"/>
                </a:tc>
                <a:tc>
                  <a:txBody>
                    <a:bodyPr/>
                    <a:lstStyle/>
                    <a:p>
                      <a:r>
                        <a:rPr lang="en-US" dirty="0"/>
                        <a:t>5 Weeks</a:t>
                      </a:r>
                    </a:p>
                  </a:txBody>
                  <a:tcPr anchor="ctr"/>
                </a:tc>
                <a:extLst>
                  <a:ext uri="{0D108BD9-81ED-4DB2-BD59-A6C34878D82A}">
                    <a16:rowId xmlns:a16="http://schemas.microsoft.com/office/drawing/2014/main" val="3678376778"/>
                  </a:ext>
                </a:extLst>
              </a:tr>
              <a:tr h="932481">
                <a:tc>
                  <a:txBody>
                    <a:bodyPr/>
                    <a:lstStyle/>
                    <a:p>
                      <a:r>
                        <a:rPr lang="en-US" b="1"/>
                        <a:t>Month 4: Testing &amp; Deployment</a:t>
                      </a:r>
                      <a:endParaRPr lang="en-US"/>
                    </a:p>
                  </a:txBody>
                  <a:tcPr anchor="ctr"/>
                </a:tc>
                <a:tc>
                  <a:txBody>
                    <a:bodyPr/>
                    <a:lstStyle/>
                    <a:p>
                      <a:r>
                        <a:rPr lang="en-US"/>
                        <a:t>Testing (Unit, Integration, Security), Bug Fixing, Final Deployment</a:t>
                      </a:r>
                    </a:p>
                  </a:txBody>
                  <a:tcPr anchor="ctr"/>
                </a:tc>
                <a:tc>
                  <a:txBody>
                    <a:bodyPr/>
                    <a:lstStyle/>
                    <a:p>
                      <a:r>
                        <a:rPr lang="en-US" dirty="0"/>
                        <a:t>5 Weeks</a:t>
                      </a:r>
                    </a:p>
                  </a:txBody>
                  <a:tcPr anchor="ctr"/>
                </a:tc>
                <a:extLst>
                  <a:ext uri="{0D108BD9-81ED-4DB2-BD59-A6C34878D82A}">
                    <a16:rowId xmlns:a16="http://schemas.microsoft.com/office/drawing/2014/main" val="4256155850"/>
                  </a:ext>
                </a:extLst>
              </a:tr>
              <a:tr h="350728">
                <a:tc>
                  <a:txBody>
                    <a:bodyPr/>
                    <a:lstStyle/>
                    <a:p>
                      <a:endParaRPr lang="en-US"/>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31879972"/>
                  </a:ext>
                </a:extLst>
              </a:tr>
            </a:tbl>
          </a:graphicData>
        </a:graphic>
      </p:graphicFrame>
    </p:spTree>
    <p:extLst>
      <p:ext uri="{BB962C8B-B14F-4D97-AF65-F5344CB8AC3E}">
        <p14:creationId xmlns:p14="http://schemas.microsoft.com/office/powerpoint/2010/main" val="1723701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12" y="-27384"/>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a:extLst>
              <a:ext uri="{FF2B5EF4-FFF2-40B4-BE49-F238E27FC236}">
                <a16:creationId xmlns:a16="http://schemas.microsoft.com/office/drawing/2014/main" id="{28A0BA87-FFCE-0AD9-17CC-A811FB343CCE}"/>
              </a:ext>
            </a:extLst>
          </p:cNvPr>
          <p:cNvSpPr txBox="1"/>
          <p:nvPr/>
        </p:nvSpPr>
        <p:spPr>
          <a:xfrm>
            <a:off x="179512" y="1480231"/>
            <a:ext cx="8352928" cy="4647426"/>
          </a:xfrm>
          <a:prstGeom prst="rect">
            <a:avLst/>
          </a:prstGeom>
          <a:noFill/>
        </p:spPr>
        <p:txBody>
          <a:bodyPr wrap="square">
            <a:spAutoFit/>
          </a:bodyPr>
          <a:lstStyle/>
          <a:p>
            <a:r>
              <a:rPr lang="en-US" sz="2000" b="1" dirty="0"/>
              <a:t>Improved Order Management</a:t>
            </a:r>
          </a:p>
          <a:p>
            <a:pPr>
              <a:buFont typeface="Arial" panose="020B0604020202020204" pitchFamily="34" charset="0"/>
              <a:buChar char="•"/>
            </a:pPr>
            <a:r>
              <a:rPr lang="en-US" sz="2000" b="1" dirty="0"/>
              <a:t>Seamless Order Processing:</a:t>
            </a:r>
            <a:r>
              <a:rPr lang="en-US" sz="2000" dirty="0"/>
              <a:t> Users can place and track orders effortlessly.</a:t>
            </a:r>
          </a:p>
          <a:p>
            <a:pPr>
              <a:buFont typeface="Arial" panose="020B0604020202020204" pitchFamily="34" charset="0"/>
              <a:buChar char="•"/>
            </a:pPr>
            <a:r>
              <a:rPr lang="en-US" sz="2000" b="1" dirty="0"/>
              <a:t>Bulk Ordering Made Easy:</a:t>
            </a:r>
            <a:r>
              <a:rPr lang="en-US" sz="2000" dirty="0"/>
              <a:t> Retailers/distributors can place large orders with a single click.</a:t>
            </a:r>
          </a:p>
          <a:p>
            <a:pPr>
              <a:buFont typeface="Arial" panose="020B0604020202020204" pitchFamily="34" charset="0"/>
              <a:buChar char="•"/>
            </a:pPr>
            <a:r>
              <a:rPr lang="en-US" sz="2000" b="1" dirty="0"/>
              <a:t>Automated Invoicing:</a:t>
            </a:r>
            <a:r>
              <a:rPr lang="en-US" sz="2000" dirty="0"/>
              <a:t> No need for manual invoice generation; the system will automatically create invoice.</a:t>
            </a:r>
          </a:p>
          <a:p>
            <a:pPr algn="just"/>
            <a:endParaRPr lang="en-IN" sz="2000" dirty="0"/>
          </a:p>
          <a:p>
            <a:r>
              <a:rPr lang="en-US" sz="2000" b="1" dirty="0"/>
              <a:t>Impact on Manufacturers</a:t>
            </a:r>
          </a:p>
          <a:p>
            <a:r>
              <a:rPr lang="en-US" sz="2000" b="1" dirty="0"/>
              <a:t>1)Higher Sales &amp; Revenue:</a:t>
            </a:r>
            <a:r>
              <a:rPr lang="en-US" sz="2000" dirty="0"/>
              <a:t> With an organized system, manufacturers can  </a:t>
            </a:r>
          </a:p>
          <a:p>
            <a:r>
              <a:rPr lang="en-US" sz="2000" dirty="0"/>
              <a:t>     process more orders efficiently.</a:t>
            </a:r>
            <a:br>
              <a:rPr lang="en-US" sz="2000" dirty="0"/>
            </a:br>
            <a:r>
              <a:rPr lang="en-US" sz="2000" dirty="0"/>
              <a:t>2)</a:t>
            </a:r>
            <a:r>
              <a:rPr lang="en-US" sz="2000" b="1" dirty="0"/>
              <a:t>Brand Growth &amp; Market Expansion:</a:t>
            </a:r>
            <a:r>
              <a:rPr lang="en-US" sz="2000" dirty="0"/>
              <a:t> A digital presence attracts more B2B   </a:t>
            </a:r>
          </a:p>
          <a:p>
            <a:r>
              <a:rPr lang="en-US" sz="2000" dirty="0"/>
              <a:t>     customers, including national and international buyers.</a:t>
            </a:r>
            <a:br>
              <a:rPr lang="en-US" sz="2000" dirty="0"/>
            </a:br>
            <a:r>
              <a:rPr lang="en-US" sz="2000" dirty="0"/>
              <a:t>3)</a:t>
            </a:r>
            <a:r>
              <a:rPr lang="en-US" sz="2000" b="1" dirty="0"/>
              <a:t>Streamlined Supply Chain:</a:t>
            </a:r>
            <a:r>
              <a:rPr lang="en-US" sz="2000" dirty="0"/>
              <a:t> Manufacturers can plan production and logistics  </a:t>
            </a:r>
          </a:p>
          <a:p>
            <a:r>
              <a:rPr lang="en-US" sz="2000" dirty="0"/>
              <a:t>      better with accurate demand forecasting.</a:t>
            </a:r>
          </a:p>
          <a:p>
            <a:pPr algn="just">
              <a:buFont typeface="Arial" panose="020B0604020202020204" pitchFamily="34" charset="0"/>
              <a:buChar char="•"/>
            </a:pPr>
            <a:endParaRPr lang="en-IN" sz="1600" dirty="0"/>
          </a:p>
        </p:txBody>
      </p:sp>
    </p:spTree>
    <p:extLst>
      <p:ext uri="{BB962C8B-B14F-4D97-AF65-F5344CB8AC3E}">
        <p14:creationId xmlns:p14="http://schemas.microsoft.com/office/powerpoint/2010/main" val="256260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CBD4-FAFD-8BE6-0A97-80DD0BE8588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BBD8B9-5927-B8F9-D001-577AFAE90494}"/>
              </a:ext>
            </a:extLst>
          </p:cNvPr>
          <p:cNvSpPr>
            <a:spLocks noGrp="1"/>
          </p:cNvSpPr>
          <p:nvPr>
            <p:ph idx="1"/>
          </p:nvPr>
        </p:nvSpPr>
        <p:spPr/>
        <p:txBody>
          <a:bodyPr/>
          <a:lstStyle/>
          <a:p>
            <a:endParaRPr lang="en-US"/>
          </a:p>
        </p:txBody>
      </p:sp>
      <p:pic>
        <p:nvPicPr>
          <p:cNvPr id="4" name="Content Placeholder 3">
            <a:extLst>
              <a:ext uri="{FF2B5EF4-FFF2-40B4-BE49-F238E27FC236}">
                <a16:creationId xmlns:a16="http://schemas.microsoft.com/office/drawing/2014/main" id="{2F7DC7DA-B410-53A7-E6C6-F1960782028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512" y="-27384"/>
            <a:ext cx="9180512" cy="6885384"/>
          </a:xfrm>
          <a:prstGeom prst="rect">
            <a:avLst/>
          </a:prstGeom>
        </p:spPr>
      </p:pic>
      <p:pic>
        <p:nvPicPr>
          <p:cNvPr id="5" name="Picture 4">
            <a:extLst>
              <a:ext uri="{FF2B5EF4-FFF2-40B4-BE49-F238E27FC236}">
                <a16:creationId xmlns:a16="http://schemas.microsoft.com/office/drawing/2014/main" id="{D011B38C-42B7-CC7D-FAAA-2CD7A6ABF94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6236671"/>
            <a:ext cx="2411760" cy="346691"/>
          </a:xfrm>
          <a:prstGeom prst="rect">
            <a:avLst/>
          </a:prstGeom>
        </p:spPr>
      </p:pic>
      <p:cxnSp>
        <p:nvCxnSpPr>
          <p:cNvPr id="6" name="Straight Connector 5">
            <a:extLst>
              <a:ext uri="{FF2B5EF4-FFF2-40B4-BE49-F238E27FC236}">
                <a16:creationId xmlns:a16="http://schemas.microsoft.com/office/drawing/2014/main" id="{9CC24FDA-AEC9-7F13-5387-0B732C3FD72B}"/>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76B2847-1DC9-368A-2D31-AC77CD3E4B21}"/>
              </a:ext>
            </a:extLst>
          </p:cNvPr>
          <p:cNvSpPr txBox="1"/>
          <p:nvPr/>
        </p:nvSpPr>
        <p:spPr>
          <a:xfrm>
            <a:off x="107504" y="1417637"/>
            <a:ext cx="9036496" cy="4524315"/>
          </a:xfrm>
          <a:prstGeom prst="rect">
            <a:avLst/>
          </a:prstGeom>
          <a:noFill/>
        </p:spPr>
        <p:txBody>
          <a:bodyPr wrap="square">
            <a:spAutoFit/>
          </a:bodyPr>
          <a:lstStyle/>
          <a:p>
            <a:pPr marL="342900" indent="-342900">
              <a:buAutoNum type="arabicParenR"/>
            </a:pPr>
            <a:r>
              <a:rPr lang="en-US" sz="1800" dirty="0">
                <a:effectLst/>
                <a:latin typeface="Verdana" panose="020B0604030504040204" pitchFamily="34" charset="0"/>
                <a:ea typeface="Verdana" panose="020B0604030504040204" pitchFamily="34" charset="0"/>
                <a:cs typeface="Verdana" panose="020B0604030504040204" pitchFamily="34" charset="0"/>
              </a:rPr>
              <a:t>The digitalization of B2B processes has been extensively studied, with research highlighting its potential to transform industries by enhancing efficiency, reducing costs, and improving customer satisfaction.</a:t>
            </a:r>
          </a:p>
          <a:p>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800" dirty="0">
                <a:effectLst/>
                <a:latin typeface="Verdana" panose="020B0604030504040204" pitchFamily="34" charset="0"/>
                <a:ea typeface="Verdana" panose="020B0604030504040204" pitchFamily="34" charset="0"/>
                <a:cs typeface="Verdana" panose="020B0604030504040204" pitchFamily="34" charset="0"/>
              </a:rPr>
              <a:t> Studies on supply chain management and enterprise resource planning (ERP) systems have underscored the importance of integrated solutions in streamlining workflows and enabling real-time decision-making.</a:t>
            </a:r>
          </a:p>
          <a:p>
            <a:r>
              <a:rPr lang="en-US" sz="1800" dirty="0">
                <a:effectLst/>
                <a:latin typeface="Verdana" panose="020B0604030504040204" pitchFamily="34" charset="0"/>
                <a:ea typeface="Verdana" panose="020B0604030504040204" pitchFamily="34" charset="0"/>
                <a:cs typeface="Verdana" panose="020B0604030504040204" pitchFamily="34" charset="0"/>
              </a:rPr>
              <a:t>  </a:t>
            </a:r>
          </a:p>
          <a:p>
            <a:pPr marL="342900" indent="-342900">
              <a:buAutoNum type="arabicParenR"/>
            </a:pPr>
            <a:r>
              <a:rPr lang="en-US" dirty="0">
                <a:latin typeface="Verdana" panose="020B0604030504040204" pitchFamily="34" charset="0"/>
                <a:ea typeface="Verdana" panose="020B0604030504040204" pitchFamily="34" charset="0"/>
                <a:cs typeface="Verdana" panose="020B0604030504040204" pitchFamily="34" charset="0"/>
              </a:rPr>
              <a:t>T</a:t>
            </a:r>
            <a:r>
              <a:rPr lang="en-US" sz="1800" dirty="0">
                <a:effectLst/>
                <a:latin typeface="Verdana" panose="020B0604030504040204" pitchFamily="34" charset="0"/>
                <a:ea typeface="Verdana" panose="020B0604030504040204" pitchFamily="34" charset="0"/>
                <a:cs typeface="Verdana" panose="020B0604030504040204" pitchFamily="34" charset="0"/>
              </a:rPr>
              <a:t>he literature reveals a significant gap when it comes to solutions tailored specifically to the manufacturing sector’s B2B order management needs.</a:t>
            </a:r>
          </a:p>
          <a:p>
            <a:endParaRPr lang="en-US" sz="1800" dirty="0">
              <a:effectLst/>
              <a:latin typeface="Verdana" panose="020B0604030504040204" pitchFamily="34" charset="0"/>
              <a:ea typeface="Verdana" panose="020B0604030504040204" pitchFamily="34" charset="0"/>
              <a:cs typeface="Verdana" panose="020B0604030504040204" pitchFamily="34" charset="0"/>
            </a:endParaRPr>
          </a:p>
          <a:p>
            <a:pPr marL="342900" indent="-342900">
              <a:buAutoNum type="arabicParenR"/>
            </a:pPr>
            <a:r>
              <a:rPr lang="en-US" sz="1800" dirty="0">
                <a:effectLst/>
                <a:latin typeface="Verdana" panose="020B0604030504040204" pitchFamily="34" charset="0"/>
                <a:ea typeface="Verdana" panose="020B0604030504040204" pitchFamily="34" charset="0"/>
                <a:cs typeface="Verdana" panose="020B0604030504040204" pitchFamily="34" charset="0"/>
              </a:rPr>
              <a:t>One area of research emphasizes the benefits of automation in reducing human errors and speeding up processes. For instance, studies have shown that digital platforms can reduce order processing times by up to 50%, enabling businesses to respond more quickly to client demands.  </a:t>
            </a:r>
          </a:p>
        </p:txBody>
      </p:sp>
      <p:sp>
        <p:nvSpPr>
          <p:cNvPr id="10" name="TextBox 9">
            <a:extLst>
              <a:ext uri="{FF2B5EF4-FFF2-40B4-BE49-F238E27FC236}">
                <a16:creationId xmlns:a16="http://schemas.microsoft.com/office/drawing/2014/main" id="{1131429F-DDB4-999A-6357-B34182954717}"/>
              </a:ext>
            </a:extLst>
          </p:cNvPr>
          <p:cNvSpPr txBox="1"/>
          <p:nvPr/>
        </p:nvSpPr>
        <p:spPr>
          <a:xfrm>
            <a:off x="107504" y="397396"/>
            <a:ext cx="6192688" cy="584775"/>
          </a:xfrm>
          <a:prstGeom prst="rect">
            <a:avLst/>
          </a:prstGeom>
          <a:noFill/>
        </p:spPr>
        <p:txBody>
          <a:bodyPr wrap="square">
            <a:spAutoFit/>
          </a:bodyPr>
          <a:lstStyle/>
          <a:p>
            <a:pPr lvl="0">
              <a:spcBef>
                <a:spcPts val="395"/>
              </a:spcBef>
              <a:buSzPts val="1400"/>
              <a:tabLst>
                <a:tab pos="391795" algn="l"/>
              </a:tabLst>
            </a:pPr>
            <a:r>
              <a:rPr lang="en-US" sz="1800" b="1" kern="0" spc="-5" dirty="0">
                <a:effectLst/>
                <a:latin typeface="Verdana" panose="020B0604030504040204" pitchFamily="34" charset="0"/>
                <a:ea typeface="Verdana" panose="020B0604030504040204" pitchFamily="34" charset="0"/>
                <a:cs typeface="Verdana" panose="020B0604030504040204" pitchFamily="34" charset="0"/>
              </a:rPr>
              <a:t>   </a:t>
            </a:r>
            <a:r>
              <a:rPr lang="en-US" sz="3200" b="1" kern="0" spc="-5" dirty="0">
                <a:effectLst/>
                <a:latin typeface="Verdana" panose="020B0604030504040204" pitchFamily="34" charset="0"/>
                <a:ea typeface="Verdana" panose="020B0604030504040204" pitchFamily="34" charset="0"/>
                <a:cs typeface="Verdana" panose="020B0604030504040204" pitchFamily="34" charset="0"/>
              </a:rPr>
              <a:t>LITERATURE</a:t>
            </a:r>
            <a:r>
              <a:rPr lang="en-US" sz="3200" b="1" kern="0" spc="-45" dirty="0">
                <a:effectLst/>
                <a:latin typeface="Verdana" panose="020B0604030504040204" pitchFamily="34" charset="0"/>
                <a:ea typeface="Verdana" panose="020B0604030504040204" pitchFamily="34" charset="0"/>
                <a:cs typeface="Verdana" panose="020B0604030504040204" pitchFamily="34" charset="0"/>
              </a:rPr>
              <a:t> </a:t>
            </a:r>
            <a:r>
              <a:rPr lang="en-US" sz="3200" b="1" kern="0" spc="-5" dirty="0">
                <a:effectLst/>
                <a:latin typeface="Verdana" panose="020B0604030504040204" pitchFamily="34" charset="0"/>
                <a:ea typeface="Verdana" panose="020B0604030504040204" pitchFamily="34" charset="0"/>
                <a:cs typeface="Verdana" panose="020B0604030504040204" pitchFamily="34" charset="0"/>
              </a:rPr>
              <a:t>REVIEW</a:t>
            </a:r>
          </a:p>
        </p:txBody>
      </p:sp>
    </p:spTree>
    <p:extLst>
      <p:ext uri="{BB962C8B-B14F-4D97-AF65-F5344CB8AC3E}">
        <p14:creationId xmlns:p14="http://schemas.microsoft.com/office/powerpoint/2010/main" val="4266067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90B0-DF45-D772-F2C2-4DA9C9459708}"/>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1FEB11A7-55F7-BA44-4ABC-0E9514E1A407}"/>
              </a:ext>
            </a:extLst>
          </p:cNvPr>
          <p:cNvSpPr>
            <a:spLocks noChangeArrowheads="1"/>
          </p:cNvSpPr>
          <p:nvPr/>
        </p:nvSpPr>
        <p:spPr bwMode="auto">
          <a:xfrm>
            <a:off x="72008" y="-26228"/>
            <a:ext cx="30267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dirty="0">
              <a:solidFill>
                <a:srgbClr val="E31E24"/>
              </a:solidFill>
              <a:cs typeface="Times New Roman" panose="02020603050405020304" pitchFamily="18" charset="0"/>
              <a:sym typeface="Arial"/>
            </a:endParaRPr>
          </a:p>
        </p:txBody>
      </p:sp>
      <p:pic>
        <p:nvPicPr>
          <p:cNvPr id="9" name="Picture 8">
            <a:extLst>
              <a:ext uri="{FF2B5EF4-FFF2-40B4-BE49-F238E27FC236}">
                <a16:creationId xmlns:a16="http://schemas.microsoft.com/office/drawing/2014/main" id="{E1913F5F-C1D7-7FAC-0C7C-5A9C9314CC4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7" name="Rectangle 8">
            <a:extLst>
              <a:ext uri="{FF2B5EF4-FFF2-40B4-BE49-F238E27FC236}">
                <a16:creationId xmlns:a16="http://schemas.microsoft.com/office/drawing/2014/main" id="{25664FC4-AEAE-11FA-5093-6666E2179A73}"/>
              </a:ext>
            </a:extLst>
          </p:cNvPr>
          <p:cNvSpPr>
            <a:spLocks noChangeArrowheads="1"/>
          </p:cNvSpPr>
          <p:nvPr/>
        </p:nvSpPr>
        <p:spPr bwMode="auto">
          <a:xfrm>
            <a:off x="0" y="568759"/>
            <a:ext cx="8596064"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9" name="Rectangle 10">
            <a:extLst>
              <a:ext uri="{FF2B5EF4-FFF2-40B4-BE49-F238E27FC236}">
                <a16:creationId xmlns:a16="http://schemas.microsoft.com/office/drawing/2014/main" id="{7DF4F82A-908A-3677-2CF6-9C6A51C5FEF5}"/>
              </a:ext>
            </a:extLst>
          </p:cNvPr>
          <p:cNvSpPr>
            <a:spLocks noChangeArrowheads="1"/>
          </p:cNvSpPr>
          <p:nvPr/>
        </p:nvSpPr>
        <p:spPr bwMode="auto">
          <a:xfrm>
            <a:off x="72008" y="-3036617"/>
            <a:ext cx="8524056"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MDN Web Docs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4"/>
              </a:rPr>
              <a:t>https://developer.mozilla.org/</a:t>
            </a:r>
            <a:r>
              <a:rPr kumimoji="0" lang="en-US" altLang="en-US" sz="1800" b="0" i="0" u="none" strike="noStrike" cap="none" normalizeH="0" baseline="0" dirty="0">
                <a:ln>
                  <a:noFill/>
                </a:ln>
                <a:solidFill>
                  <a:schemeClr val="tx1"/>
                </a:solidFill>
                <a:effectLst/>
                <a:latin typeface="Arial" panose="020B0604020202020204" pitchFamily="34" charset="0"/>
              </a:rPr>
              <a:t>) – Web development fundamentals.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W3Schools</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5"/>
              </a:rPr>
              <a:t>https://www.w3schools.com/</a:t>
            </a:r>
            <a:r>
              <a:rPr kumimoji="0" lang="en-US" altLang="en-US" sz="1800" b="0" i="0" u="none" strike="noStrike" cap="none" normalizeH="0" baseline="0" dirty="0">
                <a:ln>
                  <a:noFill/>
                </a:ln>
                <a:solidFill>
                  <a:schemeClr val="tx1"/>
                </a:solidFill>
                <a:effectLst/>
                <a:latin typeface="Arial" panose="020B0604020202020204" pitchFamily="34" charset="0"/>
              </a:rPr>
              <a:t>) – Frontend &amp; Backend coding tutorials.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eaLnBrk="0" fontAlgn="base" hangingPunct="0">
              <a:spcBef>
                <a:spcPct val="0"/>
              </a:spcBef>
              <a:spcAft>
                <a:spcPct val="0"/>
              </a:spcAft>
              <a:buFontTx/>
              <a:buChar char="•"/>
            </a:pPr>
            <a:r>
              <a:rPr lang="en-US" altLang="en-US" b="1" dirty="0">
                <a:latin typeface="Arial" panose="020B0604020202020204" pitchFamily="34" charset="0"/>
              </a:rPr>
              <a:t>Shopify Plus</a:t>
            </a:r>
            <a:r>
              <a:rPr lang="en-US" altLang="en-US" dirty="0">
                <a:latin typeface="Arial" panose="020B0604020202020204" pitchFamily="34" charset="0"/>
              </a:rPr>
              <a:t> (https://www.shopify.com/plus) – B2B eCommerce &amp; bulk order management.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Rectangle 11">
            <a:extLst>
              <a:ext uri="{FF2B5EF4-FFF2-40B4-BE49-F238E27FC236}">
                <a16:creationId xmlns:a16="http://schemas.microsoft.com/office/drawing/2014/main" id="{15D0D3FE-EB59-92DF-7F6D-B81B22C5F03B}"/>
              </a:ext>
            </a:extLst>
          </p:cNvPr>
          <p:cNvSpPr>
            <a:spLocks noChangeArrowheads="1"/>
          </p:cNvSpPr>
          <p:nvPr/>
        </p:nvSpPr>
        <p:spPr bwMode="auto">
          <a:xfrm>
            <a:off x="72097" y="2250412"/>
            <a:ext cx="859606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Magento Commerce</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hlinkClick r:id="rId6"/>
              </a:rPr>
              <a:t>https://business.adobe.com/products/magento/magento-commerce.html</a:t>
            </a:r>
            <a:r>
              <a:rPr kumimoji="0" lang="en-US" altLang="en-US" sz="1800" b="0" i="0" u="none" strike="noStrike" cap="none" normalizeH="0" baseline="0" dirty="0">
                <a:ln>
                  <a:noFill/>
                </a:ln>
                <a:solidFill>
                  <a:schemeClr val="tx1"/>
                </a:solidFill>
                <a:effectLst/>
                <a:latin typeface="Arial" panose="020B0604020202020204" pitchFamily="34" charset="0"/>
              </a:rPr>
              <a:t>) – B2B &amp; B2C eCommerce solutions .</a:t>
            </a:r>
          </a:p>
        </p:txBody>
      </p:sp>
    </p:spTree>
    <p:extLst>
      <p:ext uri="{BB962C8B-B14F-4D97-AF65-F5344CB8AC3E}">
        <p14:creationId xmlns:p14="http://schemas.microsoft.com/office/powerpoint/2010/main" val="1015379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8749F-1FF0-D55F-9E63-E1DFD5BDCFB3}"/>
              </a:ext>
            </a:extLst>
          </p:cNvPr>
          <p:cNvSpPr>
            <a:spLocks noGrp="1"/>
          </p:cNvSpPr>
          <p:nvPr>
            <p:ph type="title"/>
          </p:nvPr>
        </p:nvSpPr>
        <p:spPr/>
        <p:txBody>
          <a:bodyPr/>
          <a:lstStyle/>
          <a:p>
            <a:r>
              <a:rPr lang="en-US" dirty="0">
                <a:highlight>
                  <a:srgbClr val="FFFF00"/>
                </a:highlight>
              </a:rPr>
              <a:t>Instructions</a:t>
            </a:r>
            <a:endParaRPr lang="en-IN" dirty="0">
              <a:highlight>
                <a:srgbClr val="FFFF00"/>
              </a:highlight>
            </a:endParaRPr>
          </a:p>
        </p:txBody>
      </p:sp>
      <p:sp>
        <p:nvSpPr>
          <p:cNvPr id="3" name="Content Placeholder 2">
            <a:extLst>
              <a:ext uri="{FF2B5EF4-FFF2-40B4-BE49-F238E27FC236}">
                <a16:creationId xmlns:a16="http://schemas.microsoft.com/office/drawing/2014/main" id="{1BA9F854-0DED-567B-64F8-F061D74BE23F}"/>
              </a:ext>
            </a:extLst>
          </p:cNvPr>
          <p:cNvSpPr>
            <a:spLocks noGrp="1"/>
          </p:cNvSpPr>
          <p:nvPr>
            <p:ph idx="1"/>
          </p:nvPr>
        </p:nvSpPr>
        <p:spPr/>
        <p:txBody>
          <a:bodyPr/>
          <a:lstStyle/>
          <a:p>
            <a:r>
              <a:rPr lang="en-US" dirty="0"/>
              <a:t>No ChatGPT direct generated text, It can be used for improvements.</a:t>
            </a:r>
            <a:endParaRPr lang="en-IN" dirty="0"/>
          </a:p>
        </p:txBody>
      </p:sp>
    </p:spTree>
    <p:extLst>
      <p:ext uri="{BB962C8B-B14F-4D97-AF65-F5344CB8AC3E}">
        <p14:creationId xmlns:p14="http://schemas.microsoft.com/office/powerpoint/2010/main" val="4137349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6074</TotalTime>
  <Words>929</Words>
  <Application>Microsoft Office PowerPoint</Application>
  <PresentationFormat>On-screen Show (4:3)</PresentationFormat>
  <Paragraphs>189</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 Display</vt:lpstr>
      <vt:lpstr>Arial</vt:lpstr>
      <vt:lpstr>Calibri</vt:lpstr>
      <vt:lpstr>Cambria</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Instructions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shreebalajiflourmill2017@gmail.com</cp:lastModifiedBy>
  <cp:revision>325</cp:revision>
  <cp:lastPrinted>2022-09-05T08:43:44Z</cp:lastPrinted>
  <dcterms:created xsi:type="dcterms:W3CDTF">2020-01-16T09:05:56Z</dcterms:created>
  <dcterms:modified xsi:type="dcterms:W3CDTF">2025-05-01T07:40:19Z</dcterms:modified>
</cp:coreProperties>
</file>